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86B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FC2E6"/>
                </a:solidFill>
                <a:latin typeface="Calibri"/>
              </a:rPr>
              <a:t>STÖRUNGSINFOS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574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Calibri Light"/>
              </a:rPr>
              <a:t>Ein Selbstbedienungs-Portal
für Störungsmeldungen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9D8E8"/>
                </a:solidFill>
                <a:latin typeface="Calibri"/>
              </a:rPr>
              <a:t>Ersetzt händisch gepflegte Outlook-Verteiler durch Abonnements, die die Empfänger selbst pflegen. Versandweg bleibt E-Mail.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074920"/>
            <a:ext cx="5669280" cy="18288"/>
          </a:xfrm>
          <a:prstGeom prst="rect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F9CBC"/>
                </a:solidFill>
                <a:latin typeface="Calibri"/>
              </a:rPr>
              <a:t>BEDARF &amp; ENTWICKLUNG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523951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IT-Problemmanagement (in der WWI/Informatik)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418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F9CBC"/>
                </a:solidFill>
                <a:latin typeface="Calibri"/>
              </a:rPr>
              <a:t>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56235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Testinstanz, vor der BlueZone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4D78"/>
                </a:solidFill>
                <a:latin typeface="Calibri"/>
              </a:rPr>
              <a:t>WORUM ES GEHT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B1E22"/>
                </a:solidFill>
                <a:latin typeface="Calibri Light"/>
              </a:rPr>
              <a:t>Ersetzt wird die Verteilerpflege — nicht der Kanal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10607040" cy="18288"/>
          </a:xfrm>
          <a:prstGeom prst="rect">
            <a:avLst/>
          </a:prstGeom>
          <a:solidFill>
            <a:srgbClr val="D7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07040" cy="1280160"/>
          </a:xfrm>
          <a:prstGeom prst="rect">
            <a:avLst/>
          </a:prstGeom>
          <a:solidFill>
            <a:srgbClr val="E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82296" cy="128016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39696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B1E22"/>
                </a:solidFill>
                <a:latin typeface="Calibri"/>
              </a:rPr>
              <a:t>Es entsteht keine neue Kommunikationsplattform. </a:t>
            </a:r>
            <a:r>
              <a:rPr sz="1700" b="0">
                <a:solidFill>
                  <a:srgbClr val="555B63"/>
                </a:solidFill>
                <a:latin typeface="Calibri"/>
              </a:rPr>
              <a:t>Heute werden Adresslisten in Outlook gepflegt; künftig entscheidet jeder Beschäftigte selbst, welche Störungsthemen er bekommt — und das IT-Problemmanagement schreibt einmal und erreicht den aktuellen Stand.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4D78"/>
                </a:solidFill>
                <a:latin typeface="Calibri"/>
              </a:rPr>
              <a:t>Das Problem heute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886200"/>
            <a:ext cx="82296" cy="109728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06908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1E22"/>
                </a:solidFill>
                <a:latin typeface="Calibri"/>
              </a:rPr>
              <a:t>Listen liegen bei Einzelpersonen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B63"/>
                </a:solidFill>
                <a:latin typeface="Calibri"/>
              </a:rPr>
              <a:t>Wer pflegt, ist Einzelfallwissen. Wer wechselt oder geht, bleibt drin.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88620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886200"/>
            <a:ext cx="82296" cy="109728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406908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1E22"/>
                </a:solidFill>
                <a:latin typeface="Calibri"/>
              </a:rPr>
              <a:t>Keine Selbstbedienung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B63"/>
                </a:solidFill>
                <a:latin typeface="Calibri"/>
              </a:rPr>
              <a:t>Niemand kann sich selbst an- oder abmelden oder sehen, was er abonniert hat.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16636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166360"/>
            <a:ext cx="82296" cy="109728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534924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1E22"/>
                </a:solidFill>
                <a:latin typeface="Calibri"/>
              </a:rPr>
              <a:t>Keine belastbare Historie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B63"/>
                </a:solidFill>
                <a:latin typeface="Calibri"/>
              </a:rPr>
              <a:t>Was wann an wen ging, steht nur in einzelnen Postausgängen.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516636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5166360"/>
            <a:ext cx="82296" cy="109728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534924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1E22"/>
                </a:solidFill>
                <a:latin typeface="Calibri"/>
              </a:rPr>
              <a:t>Skaliert nicht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B63"/>
                </a:solidFill>
                <a:latin typeface="Calibri"/>
              </a:rPr>
              <a:t>Empfänger im Endzustand sind alle Beschäftigten — händisch nicht tragbar.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4D78"/>
                </a:solidFill>
                <a:latin typeface="Calibri"/>
              </a:rPr>
              <a:t>FUNKTION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B1E22"/>
                </a:solidFill>
                <a:latin typeface="Calibri Light"/>
              </a:rPr>
              <a:t>Was die Software macht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10607040" cy="18288"/>
          </a:xfrm>
          <a:prstGeom prst="rect">
            <a:avLst/>
          </a:prstGeom>
          <a:solidFill>
            <a:srgbClr val="D7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82296" cy="178308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24028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1E22"/>
                </a:solidFill>
                <a:latin typeface="Calibri"/>
              </a:rPr>
              <a:t>Für alle Beschäftigten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F4D78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Anmeldung per Konzern-SSO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F4D78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Themen abonnieren und abbestellen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F4D78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eigene Meldungshistorie lesen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05740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057400"/>
            <a:ext cx="82296" cy="178308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24028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1E22"/>
                </a:solidFill>
                <a:latin typeface="Calibri"/>
              </a:rPr>
              <a:t>Für das IT-Problemmanagement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F4D78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Meldung mit Schweregrad erfassen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F4D78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Live-Vorschau der Mail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F4D78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Versand mit Zustellstatus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11480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114800"/>
            <a:ext cx="82296" cy="178308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429768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1E22"/>
                </a:solidFill>
                <a:latin typeface="Calibri"/>
              </a:rPr>
              <a:t>Verwaltung (Admin-Masken)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F4D78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Verteiler anlegen, ändern, deaktivieren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F4D78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Empfänger einsehen und deaktivieren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F4D78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Adminrechte vergeben — alles per Maske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11480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114800"/>
            <a:ext cx="82296" cy="1783080"/>
          </a:xfrm>
          <a:prstGeom prst="rect">
            <a:avLst/>
          </a:prstGeom>
          <a:solidFill>
            <a:srgbClr val="2D6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429768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1E22"/>
                </a:solidFill>
                <a:latin typeface="Calibri"/>
              </a:rPr>
              <a:t>Pflichtthemen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D6A44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Einzelne Verteiler nicht abwählbar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D6A44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z. B. zentrale Störungen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D6A44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555B63"/>
                </a:solidFill>
                <a:latin typeface="Calibri"/>
              </a:rPr>
              <a:t>Eigenschaft des Verteilers, kein Sonderfall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4D78"/>
                </a:solidFill>
                <a:latin typeface="Calibri"/>
              </a:rPr>
              <a:t>AUFBAU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B1E22"/>
                </a:solidFill>
                <a:latin typeface="Calibri Light"/>
              </a:rPr>
              <a:t>Wie sie aufgebaut 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10607040" cy="18288"/>
          </a:xfrm>
          <a:prstGeom prst="rect">
            <a:avLst/>
          </a:prstGeom>
          <a:solidFill>
            <a:srgbClr val="D7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55B63"/>
                </a:solidFill>
                <a:latin typeface="Calibri"/>
              </a:rPr>
              <a:t>Statische HTML-Seiten · Python/FastAPI · PostgreSQL · Keycloak · NGINX — alles in Containern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520440"/>
            <a:ext cx="1572768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B1E22"/>
                </a:solidFill>
                <a:latin typeface="Calibri"/>
              </a:rPr>
              <a:t>Beschäftigte</a:t>
            </a:r>
          </a:p>
          <a:p>
            <a:pPr algn="ctr"/>
            <a:r>
              <a:rPr sz="1000">
                <a:solidFill>
                  <a:srgbClr val="555B63"/>
                </a:solidFill>
                <a:latin typeface="Calibri"/>
              </a:rPr>
              <a:t>Browser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39" y="3890772"/>
            <a:ext cx="219456" cy="100584"/>
          </a:xfrm>
          <a:prstGeom prst="rightArrow">
            <a:avLst>
              <a:gd name="adj1" fmla="val 50000"/>
              <a:gd name="adj2" fmla="val 90000"/>
            </a:avLst>
          </a:prstGeom>
          <a:solidFill>
            <a:srgbClr val="7C8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7440" y="3520440"/>
            <a:ext cx="1572768" cy="841248"/>
          </a:xfrm>
          <a:prstGeom prst="roundRect">
            <a:avLst/>
          </a:prstGeom>
          <a:solidFill>
            <a:srgbClr val="E9F0F6"/>
          </a:solidFill>
          <a:ln w="15875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F4D78"/>
                </a:solidFill>
                <a:latin typeface="Calibri"/>
              </a:rPr>
              <a:t>Portal</a:t>
            </a:r>
          </a:p>
          <a:p>
            <a:pPr algn="ctr"/>
            <a:r>
              <a:rPr sz="1000">
                <a:solidFill>
                  <a:srgbClr val="1F4D78"/>
                </a:solidFill>
                <a:latin typeface="Calibri"/>
              </a:rPr>
              <a:t>NGINX + App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59352" y="3890772"/>
            <a:ext cx="219456" cy="100584"/>
          </a:xfrm>
          <a:prstGeom prst="rightArrow">
            <a:avLst>
              <a:gd name="adj1" fmla="val 50000"/>
              <a:gd name="adj2" fmla="val 90000"/>
            </a:avLst>
          </a:prstGeom>
          <a:solidFill>
            <a:srgbClr val="7C8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87952" y="3520440"/>
            <a:ext cx="1572768" cy="841248"/>
          </a:xfrm>
          <a:prstGeom prst="roundRect">
            <a:avLst/>
          </a:prstGeom>
          <a:solidFill>
            <a:srgbClr val="E9F0F6"/>
          </a:solidFill>
          <a:ln w="15875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F4D78"/>
                </a:solidFill>
                <a:latin typeface="Calibri"/>
              </a:rPr>
              <a:t>Datenbank</a:t>
            </a:r>
          </a:p>
          <a:p>
            <a:pPr algn="ctr"/>
            <a:r>
              <a:rPr sz="1000">
                <a:solidFill>
                  <a:srgbClr val="1F4D78"/>
                </a:solidFill>
                <a:latin typeface="Calibri"/>
              </a:rPr>
              <a:t>Container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9864" y="3890772"/>
            <a:ext cx="219456" cy="100584"/>
          </a:xfrm>
          <a:prstGeom prst="rightArrow">
            <a:avLst>
              <a:gd name="adj1" fmla="val 50000"/>
              <a:gd name="adj2" fmla="val 90000"/>
            </a:avLst>
          </a:prstGeom>
          <a:solidFill>
            <a:srgbClr val="7C8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98464" y="3520440"/>
            <a:ext cx="1572768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B1E22"/>
                </a:solidFill>
                <a:latin typeface="Calibri"/>
              </a:rPr>
              <a:t>Versand</a:t>
            </a:r>
          </a:p>
          <a:p>
            <a:pPr algn="ctr"/>
            <a:r>
              <a:rPr sz="1000">
                <a:solidFill>
                  <a:srgbClr val="555B63"/>
                </a:solidFill>
                <a:latin typeface="Calibri"/>
              </a:rPr>
              <a:t>Einzelmails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80376" y="3890772"/>
            <a:ext cx="219456" cy="100584"/>
          </a:xfrm>
          <a:prstGeom prst="rightArrow">
            <a:avLst>
              <a:gd name="adj1" fmla="val 50000"/>
              <a:gd name="adj2" fmla="val 90000"/>
            </a:avLst>
          </a:prstGeom>
          <a:solidFill>
            <a:srgbClr val="7C8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08976" y="3520440"/>
            <a:ext cx="1572768" cy="841248"/>
          </a:xfrm>
          <a:prstGeom prst="roundRect">
            <a:avLst/>
          </a:prstGeom>
          <a:solidFill>
            <a:srgbClr val="F9F2E4"/>
          </a:solidFill>
          <a:ln w="15875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8A5713"/>
                </a:solidFill>
                <a:latin typeface="Calibri"/>
              </a:rPr>
              <a:t>Mailrelay</a:t>
            </a:r>
          </a:p>
          <a:p>
            <a:pPr algn="ctr"/>
            <a:r>
              <a:rPr sz="1000">
                <a:solidFill>
                  <a:srgbClr val="8A5713"/>
                </a:solidFill>
                <a:latin typeface="Calibri"/>
              </a:rPr>
              <a:t>Konzern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90888" y="3890772"/>
            <a:ext cx="219456" cy="100584"/>
          </a:xfrm>
          <a:prstGeom prst="rightArrow">
            <a:avLst>
              <a:gd name="adj1" fmla="val 50000"/>
              <a:gd name="adj2" fmla="val 90000"/>
            </a:avLst>
          </a:prstGeom>
          <a:solidFill>
            <a:srgbClr val="7C8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19488" y="3520440"/>
            <a:ext cx="1572768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B1E22"/>
                </a:solidFill>
                <a:latin typeface="Calibri"/>
              </a:rPr>
              <a:t>Postfächer</a:t>
            </a:r>
          </a:p>
          <a:p>
            <a:pPr algn="ctr"/>
            <a:r>
              <a:rPr sz="1000">
                <a:solidFill>
                  <a:srgbClr val="555B63"/>
                </a:solidFill>
                <a:latin typeface="Calibri"/>
              </a:rPr>
              <a:t>Empfänger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2194560"/>
            <a:ext cx="1572768" cy="777240"/>
          </a:xfrm>
          <a:prstGeom prst="roundRect">
            <a:avLst/>
          </a:prstGeom>
          <a:solidFill>
            <a:srgbClr val="F9F2E4"/>
          </a:solidFill>
          <a:ln w="15875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8A5713"/>
                </a:solidFill>
                <a:latin typeface="Calibri"/>
              </a:rPr>
              <a:t>Konzern-IdP</a:t>
            </a:r>
          </a:p>
          <a:p>
            <a:pPr algn="ctr"/>
            <a:r>
              <a:rPr sz="1000">
                <a:solidFill>
                  <a:srgbClr val="8A5713"/>
                </a:solidFill>
                <a:latin typeface="Calibri"/>
              </a:rPr>
              <a:t>Anmeldung (OIDC)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6392" y="2971800"/>
            <a:ext cx="54864" cy="548640"/>
          </a:xfrm>
          <a:prstGeom prst="rect">
            <a:avLst/>
          </a:prstGeom>
          <a:solidFill>
            <a:srgbClr val="B4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8600" y="2438400"/>
            <a:ext cx="1905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8A5713"/>
                </a:solidFill>
                <a:latin typeface="Calibri"/>
              </a:rPr>
              <a:t>■ Konzern-Infrastruktur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solidFill>
            <a:srgbClr val="E8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937760"/>
            <a:ext cx="82296" cy="1005840"/>
          </a:xfrm>
          <a:prstGeom prst="rect">
            <a:avLst/>
          </a:prstGeom>
          <a:solidFill>
            <a:srgbClr val="2D6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84064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D6A44"/>
                </a:solidFill>
                <a:latin typeface="Calibri"/>
              </a:rPr>
              <a:t>Zwei Verbindungen zu Konzern-Systemen — Identity Provider, Mailrelay — beide im Intranet. </a:t>
            </a:r>
            <a:r>
              <a:rPr sz="1400" b="0">
                <a:solidFill>
                  <a:srgbClr val="1B1E22"/>
                </a:solidFill>
                <a:latin typeface="Calibri"/>
              </a:rPr>
              <a:t>Die Datenbank läuft als Container auf derselben Maschine. Keine Fremd-APIs, kein Internet. (Die öffentliche Demo nutzt bewusst Gmail-Relay, Let’s Encrypt und Cloudflare — im Zielbild entfällt das.)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4D78"/>
                </a:solidFill>
                <a:latin typeface="Calibri"/>
              </a:rPr>
              <a:t>AUFBAU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B1E22"/>
                </a:solidFill>
                <a:latin typeface="Calibri Light"/>
              </a:rPr>
              <a:t>Die tragenden Entscheidungen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10607040" cy="18288"/>
          </a:xfrm>
          <a:prstGeom prst="rect">
            <a:avLst/>
          </a:prstGeom>
          <a:solidFill>
            <a:srgbClr val="D7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1206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82296" cy="133502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011680"/>
            <a:ext cx="4663440" cy="1014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B1E22"/>
                </a:solidFill>
                <a:latin typeface="Calibri"/>
              </a:rPr>
              <a:t>Anmeldung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B63"/>
                </a:solidFill>
                <a:latin typeface="Calibri"/>
              </a:rPr>
              <a:t>OIDC gegen den Konzern-IdP (BFF). Sitzung in verschlüsseltem Cookie — kein Sitzungsspeicher.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1206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82296" cy="133502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011680"/>
            <a:ext cx="4663440" cy="1014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B1E22"/>
                </a:solidFill>
                <a:latin typeface="Calibri"/>
              </a:rPr>
              <a:t>Versand — Einzelmails statt BCC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B63"/>
                </a:solidFill>
                <a:latin typeface="Calibri"/>
              </a:rPr>
              <a:t>Jeder bekommt eine eigene Mail: nur die eigene Adresse ist sichtbar, und der Zustellstatus ist je Person bekannt. Ausgangskorb in der DB, kein Message-Broker.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10128"/>
            <a:ext cx="51206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310128"/>
            <a:ext cx="82296" cy="133502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493008"/>
            <a:ext cx="4663440" cy="1014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B1E22"/>
                </a:solidFill>
                <a:latin typeface="Calibri"/>
              </a:rPr>
              <a:t>Empfängerliste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B63"/>
                </a:solidFill>
                <a:latin typeface="Calibri"/>
              </a:rPr>
              <a:t>Beim Absenden eingefroren — jeder Versand ist im Nachhinein erklärbar.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310128"/>
            <a:ext cx="51206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310128"/>
            <a:ext cx="82296" cy="133502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493008"/>
            <a:ext cx="4663440" cy="1014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B1E22"/>
                </a:solidFill>
                <a:latin typeface="Calibri"/>
              </a:rPr>
              <a:t>Oberfläche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B63"/>
                </a:solidFill>
                <a:latin typeface="Calibri"/>
              </a:rPr>
              <a:t>Der Browser darf nur mitgelieferten Code ausführen — eingeschleuste Skripte sind blockiert (Content-Security-Policy). Statische Seiten, kein Framework.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91456"/>
            <a:ext cx="51206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791456"/>
            <a:ext cx="82296" cy="133502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974336"/>
            <a:ext cx="4663440" cy="1014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B1E22"/>
                </a:solidFill>
                <a:latin typeface="Calibri"/>
              </a:rPr>
              <a:t>Datenbankschema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B63"/>
                </a:solidFill>
                <a:latin typeface="Calibri"/>
              </a:rPr>
              <a:t>Versionierte Migrationen, ausschließlich additiv — nichts am Schema fällt weg.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791456"/>
            <a:ext cx="51206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791456"/>
            <a:ext cx="82296" cy="133502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974336"/>
            <a:ext cx="4663440" cy="1014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B1E22"/>
                </a:solidFill>
                <a:latin typeface="Calibri"/>
              </a:rPr>
              <a:t>Rechte &amp; Protokoll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B63"/>
                </a:solidFill>
                <a:latin typeface="Calibri"/>
              </a:rPr>
              <a:t>Adminrecht nur in der DB, je Anfrage geprüft, Entzug wirkt sofort. Jede Admin-Aktion (Versand, Rechte, Verteiler-/Empfängerpflege) wird protokolliert — wer, was, wann. Self-Service-Abos bewusst nicht (Datenminimierung).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4D78"/>
                </a:solidFill>
                <a:latin typeface="Calibri"/>
              </a:rPr>
              <a:t>HALTUNG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B1E22"/>
                </a:solidFill>
                <a:latin typeface="Calibri Light"/>
              </a:rPr>
              <a:t>Was bewusst nicht gebaut wurde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10607040" cy="18288"/>
          </a:xfrm>
          <a:prstGeom prst="rect">
            <a:avLst/>
          </a:prstGeom>
          <a:solidFill>
            <a:srgbClr val="D7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07040" cy="1207008"/>
          </a:xfrm>
          <a:prstGeom prst="rect">
            <a:avLst/>
          </a:prstGeom>
          <a:solidFill>
            <a:srgbClr val="E8F1EB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82296" cy="1207008"/>
          </a:xfrm>
          <a:prstGeom prst="rect">
            <a:avLst/>
          </a:prstGeom>
          <a:solidFill>
            <a:srgbClr val="2D6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48840"/>
            <a:ext cx="1014984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1E22"/>
                </a:solidFill>
                <a:latin typeface="Calibri"/>
              </a:rPr>
              <a:t>Kein Tracking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B63"/>
                </a:solidFill>
                <a:latin typeface="Calibri"/>
              </a:rPr>
              <a:t>Keine Lese- oder Klickauswertung, keine personalisierten Links, keine Empfänger-Adressen in Logs. Wer eine Meldung öffnet, bleibt unbekannt — technisch, nicht per Zusage.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337560"/>
            <a:ext cx="10607040" cy="1207008"/>
          </a:xfrm>
          <a:prstGeom prst="rect">
            <a:avLst/>
          </a:prstGeom>
          <a:solidFill>
            <a:srgbClr val="E8F1EB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337560"/>
            <a:ext cx="82296" cy="1207008"/>
          </a:xfrm>
          <a:prstGeom prst="rect">
            <a:avLst/>
          </a:prstGeom>
          <a:solidFill>
            <a:srgbClr val="2D6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520440"/>
            <a:ext cx="1014984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1E22"/>
                </a:solidFill>
                <a:latin typeface="Calibri"/>
              </a:rPr>
              <a:t>Keine Personennamen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B63"/>
                </a:solidFill>
                <a:latin typeface="Calibri"/>
              </a:rPr>
              <a:t>Verarbeitet werden Mailadresse, SSO-Kennung, Abos, Kontostatus, Zeitpunkt von Kontoanlage und letzter Anmeldung, Versandprotokoll je Adresse und Protokoll der Admin-Aktionen. Der Webserver protokolliert IP-Adressen. Keine Namen.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709160"/>
            <a:ext cx="10607040" cy="1207008"/>
          </a:xfrm>
          <a:prstGeom prst="rect">
            <a:avLst/>
          </a:prstGeom>
          <a:solidFill>
            <a:srgbClr val="E8F1EB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709160"/>
            <a:ext cx="82296" cy="1207008"/>
          </a:xfrm>
          <a:prstGeom prst="rect">
            <a:avLst/>
          </a:prstGeom>
          <a:solidFill>
            <a:srgbClr val="2D6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4892040"/>
            <a:ext cx="1014984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1E22"/>
                </a:solidFill>
                <a:latin typeface="Calibri"/>
              </a:rPr>
              <a:t>Keine Zusatz-Infrastruktur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B63"/>
                </a:solidFill>
                <a:latin typeface="Calibri"/>
              </a:rPr>
              <a:t>Kein Broker, kein Cache, kein zweiter Datenspeicher, kein Frontend-Framework. Einfachheit war Anforderung — jede Entscheidung ist schriftlich begründet.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D78"/>
                </a:solidFill>
                <a:latin typeface="Calibri"/>
              </a:rPr>
              <a:t>Kennzahlen: </a:t>
            </a:r>
            <a:r>
              <a:rPr sz="1300" b="0">
                <a:solidFill>
                  <a:srgbClr val="555B63"/>
                </a:solidFill>
                <a:latin typeface="Calibri"/>
              </a:rPr>
              <a:t>rund 3.000 Zeilen Anwendungscode · rund 40 Module · über 1.000 automatische Tests · 2 Konzern-Verbindungen · kein Broker, kein Cache, kein Zweitspeicher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4D78"/>
                </a:solidFill>
                <a:latin typeface="Calibri"/>
              </a:rPr>
              <a:t>REGULATORIK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B1E22"/>
                </a:solidFill>
                <a:latin typeface="Calibri Light"/>
              </a:rPr>
              <a:t>IDV-Einstufung nach Anlage 1 — auf jedem Weg keine IDV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10607040" cy="18288"/>
          </a:xfrm>
          <a:prstGeom prst="rect">
            <a:avLst/>
          </a:prstGeom>
          <a:solidFill>
            <a:srgbClr val="D7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5120640" cy="2743200"/>
          </a:xfrm>
          <a:prstGeom prst="rect">
            <a:avLst/>
          </a:prstGeom>
          <a:solidFill>
            <a:srgbClr val="E8F1EB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82296" cy="2743200"/>
          </a:xfrm>
          <a:prstGeom prst="rect">
            <a:avLst/>
          </a:prstGeom>
          <a:solidFill>
            <a:srgbClr val="2D6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D6A44"/>
                </a:solidFill>
                <a:latin typeface="Calibri"/>
              </a:rPr>
              <a:t>Weg 1 — Frage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44368"/>
            <a:ext cx="4663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B63"/>
                </a:solidFill>
                <a:latin typeface="Calibri"/>
              </a:rPr>
              <a:t>„Haben die Daten mit Geschäftsprozess-
aktivitäten zu tun?“  → </a:t>
            </a:r>
            <a:r>
              <a:rPr sz="1400" b="1">
                <a:solidFill>
                  <a:srgbClr val="1B1E22"/>
                </a:solidFill>
                <a:latin typeface="Calibri"/>
              </a:rPr>
              <a:t>Nein.</a:t>
            </a:r>
            <a:r>
              <a:rPr sz="1400" b="0">
                <a:solidFill>
                  <a:srgbClr val="555B63"/>
                </a:solidFill>
                <a:latin typeface="Calibri"/>
              </a:rPr>
              <a:t> Verarbeitet werden Mailadressen, Abos, Meldungstexte — keine Vertrags-, Kunden- oder Buchungsdaten. Die Abfrage endet hier: keine IDV.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120640" cy="2743200"/>
          </a:xfrm>
          <a:prstGeom prst="rect">
            <a:avLst/>
          </a:prstGeom>
          <a:solidFill>
            <a:srgbClr val="E8F1EB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148840"/>
            <a:ext cx="82296" cy="2743200"/>
          </a:xfrm>
          <a:prstGeom prst="rect">
            <a:avLst/>
          </a:prstGeom>
          <a:solidFill>
            <a:srgbClr val="2D6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D6A44"/>
                </a:solidFill>
                <a:latin typeface="Calibri"/>
              </a:rPr>
              <a:t>Weg 2 — Frage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44368"/>
            <a:ext cx="4663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B63"/>
                </a:solidFill>
                <a:latin typeface="Calibri"/>
              </a:rPr>
              <a:t>„Entwicklung oder Wartung selbst im Fachbereich?“  → </a:t>
            </a:r>
            <a:r>
              <a:rPr sz="1400" b="1">
                <a:solidFill>
                  <a:srgbClr val="1B1E22"/>
                </a:solidFill>
                <a:latin typeface="Calibri"/>
              </a:rPr>
              <a:t>Nein.</a:t>
            </a:r>
            <a:r>
              <a:rPr sz="1400" b="0">
                <a:solidFill>
                  <a:srgbClr val="555B63"/>
                </a:solidFill>
                <a:latin typeface="Calibri"/>
              </a:rPr>
              <a:t> Entwicklung und Wartung liegen beim IT-Problemmanagement in der WWI. Falls jemand Frage 1 anders sieht, endet die Abfrage bei </a:t>
            </a:r>
            <a:r>
              <a:rPr sz="1400" b="1">
                <a:solidFill>
                  <a:srgbClr val="1B1E22"/>
                </a:solidFill>
                <a:latin typeface="Calibri"/>
              </a:rPr>
              <a:t>ADV</a:t>
            </a:r>
            <a:r>
              <a:rPr sz="1400" b="0">
                <a:solidFill>
                  <a:srgbClr val="555B63"/>
                </a:solidFill>
                <a:latin typeface="Calibri"/>
              </a:rPr>
              <a:t> — nicht IDV.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D78"/>
                </a:solidFill>
                <a:latin typeface="Calibri"/>
              </a:rPr>
              <a:t>Bündelung: </a:t>
            </a:r>
            <a:r>
              <a:rPr sz="1400" b="0">
                <a:solidFill>
                  <a:srgbClr val="555B63"/>
                </a:solidFill>
                <a:latin typeface="Calibri"/>
              </a:rPr>
              <a:t>Abo-Portal, Versand und Verwaltung sind eine Anwendung — von der Anlage gedeckt.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4D78"/>
                </a:solidFill>
                <a:latin typeface="Calibri"/>
              </a:rPr>
              <a:t>EHRLICH BENANNT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B1E22"/>
                </a:solidFill>
                <a:latin typeface="Calibri Light"/>
              </a:rPr>
              <a:t>Offene Türen der Testinstanz — fallen vor einem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10607040" cy="18288"/>
          </a:xfrm>
          <a:prstGeom prst="rect">
            <a:avLst/>
          </a:prstGeom>
          <a:solidFill>
            <a:srgbClr val="D7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55B63"/>
                </a:solidFill>
                <a:latin typeface="Calibri"/>
              </a:rPr>
              <a:t>Die aktuelle Instanz ist Vorführ- und Testumgebung. Drei Dinge stehen bewusst offen und sind schriftlich als Entscheidung festgehalten — bekannt und benannt, nicht überraschend.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10607040" cy="868680"/>
          </a:xfrm>
          <a:prstGeom prst="rect">
            <a:avLst/>
          </a:prstGeom>
          <a:solidFill>
            <a:srgbClr val="F9F2E4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82296" cy="868680"/>
          </a:xfrm>
          <a:prstGeom prst="rect">
            <a:avLst/>
          </a:prstGeom>
          <a:solidFill>
            <a:srgbClr val="8A5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69748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1E22"/>
                </a:solidFill>
                <a:latin typeface="Calibri"/>
              </a:rPr>
              <a:t>Offene Selbstregistrierung ohne Mailbestätigung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B63"/>
                </a:solidFill>
                <a:latin typeface="Calibri"/>
              </a:rPr>
              <a:t>Damit man ohne Konzernkonto vorführen kann. Mit der IdP-Anbindung entfällt Selbstregistrierung vollständig.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20440"/>
            <a:ext cx="10607040" cy="868680"/>
          </a:xfrm>
          <a:prstGeom prst="rect">
            <a:avLst/>
          </a:prstGeom>
          <a:solidFill>
            <a:srgbClr val="F9F2E4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520440"/>
            <a:ext cx="82296" cy="868680"/>
          </a:xfrm>
          <a:prstGeom prst="rect">
            <a:avLst/>
          </a:prstGeom>
          <a:solidFill>
            <a:srgbClr val="8A5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70332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1E22"/>
                </a:solidFill>
                <a:latin typeface="Calibri"/>
              </a:rPr>
              <a:t>Ein Vorführ-Zugang mit Adminrechten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B63"/>
                </a:solidFill>
                <a:latin typeface="Calibri"/>
              </a:rPr>
              <a:t>Plus eine im Code verdrahtete Abkürzung für Demo-Adressen. Beides wird vor dem Pilot entfernt und per Test dagegen abgesichert.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526280"/>
            <a:ext cx="10607040" cy="868680"/>
          </a:xfrm>
          <a:prstGeom prst="rect">
            <a:avLst/>
          </a:prstGeom>
          <a:solidFill>
            <a:srgbClr val="F9F2E4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526280"/>
            <a:ext cx="82296" cy="868680"/>
          </a:xfrm>
          <a:prstGeom prst="rect">
            <a:avLst/>
          </a:prstGeom>
          <a:solidFill>
            <a:srgbClr val="8A5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70916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1E22"/>
                </a:solidFill>
                <a:latin typeface="Calibri"/>
              </a:rPr>
              <a:t>Keine echten Empfängerdaten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B63"/>
                </a:solidFill>
                <a:latin typeface="Calibri"/>
              </a:rPr>
              <a:t>Nur eigene Adressen und Demo-Konten. Der Pilot beginnt mit einem definierten Empfängerkreis.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A5713"/>
                </a:solidFill>
                <a:latin typeface="Calibri"/>
              </a:rPr>
              <a:t>Erst der Rechenzentrumsbetrieb entscheidet: </a:t>
            </a:r>
            <a:r>
              <a:rPr sz="1300" b="0">
                <a:solidFill>
                  <a:srgbClr val="555B63"/>
                </a:solidFill>
                <a:latin typeface="Calibri"/>
              </a:rPr>
              <a:t>wo die Verschlüsselung endet · Zusicherung, dass der Versandteil auf genau einer Instanz läuft (mehrere würden doppelt versenden). Diese beiden sind uns bekannt.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4D78"/>
                </a:solidFill>
                <a:latin typeface="Calibri"/>
              </a:rPr>
              <a:t>WAS ICH VOM GESPRÄCH BRAUCHE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B1E22"/>
                </a:solidFill>
                <a:latin typeface="Calibri Light"/>
              </a:rPr>
              <a:t>Offene Fragen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10607040" cy="18288"/>
          </a:xfrm>
          <a:prstGeom prst="rect">
            <a:avLst/>
          </a:prstGeom>
          <a:solidFill>
            <a:srgbClr val="D7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097"/>
                </a:solidFill>
                <a:latin typeface="Calibri"/>
              </a:rPr>
              <a:t>Bei jeder Antwort „das klärt Stelle X“ bitte den Namen der Stelle und die übliche Vorlaufzeit.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5257800" cy="22082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73152" cy="2208276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4D78"/>
                </a:solidFill>
                <a:latin typeface="Calibri"/>
              </a:rPr>
              <a:t>Umgebung &amp; Teststufen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06624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1  </a:t>
            </a:r>
            <a:r>
              <a:rPr sz="1200" b="0">
                <a:solidFill>
                  <a:srgbClr val="1B1E22"/>
                </a:solidFill>
                <a:latin typeface="Calibri"/>
              </a:rPr>
              <a:t>Wie bekomme ich eine Testmaschine — wer, welcher Antrag, Vorlaufzeit?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10128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2  </a:t>
            </a:r>
            <a:r>
              <a:rPr sz="1200" b="0">
                <a:solidFill>
                  <a:srgbClr val="1B1E22"/>
                </a:solidFill>
                <a:latin typeface="Calibri"/>
              </a:rPr>
              <a:t>Test-/Integrationsstufen von IdP, ADS, Relay — oder nur produktiv?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13632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3  </a:t>
            </a:r>
            <a:r>
              <a:rPr sz="1200" b="0">
                <a:solidFill>
                  <a:srgbClr val="1B1E22"/>
                </a:solidFill>
                <a:latin typeface="Calibri"/>
              </a:rPr>
              <a:t>Verprobung mit echten Adressen erlaubt, oder nur Testdaten?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04004"/>
            <a:ext cx="525780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604004"/>
            <a:ext cx="73152" cy="1984248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4116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4D78"/>
                </a:solidFill>
                <a:latin typeface="Calibri"/>
              </a:rPr>
              <a:t>Wer muss beteiligt werden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16068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4  </a:t>
            </a:r>
            <a:r>
              <a:rPr sz="1200" b="0">
                <a:solidFill>
                  <a:srgbClr val="1B1E22"/>
                </a:solidFill>
                <a:latin typeface="Calibri"/>
              </a:rPr>
              <a:t>Welche Stellen abholen — vollständig und in welcher Reihenfolge?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95544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5  </a:t>
            </a:r>
            <a:r>
              <a:rPr sz="1200" b="0">
                <a:solidFill>
                  <a:srgbClr val="1B1E22"/>
                </a:solidFill>
                <a:latin typeface="Calibri"/>
              </a:rPr>
              <a:t>Wer ist mein DDB, wer der EA für unsere Fachdomäne?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75020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6  </a:t>
            </a:r>
            <a:r>
              <a:rPr sz="1200" b="0">
                <a:solidFill>
                  <a:srgbClr val="1B1E22"/>
                </a:solidFill>
                <a:latin typeface="Calibri"/>
              </a:rPr>
              <a:t>Wie viele Verantwortliche — technisch und fachlich, mit Vertretung?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79" y="2194560"/>
            <a:ext cx="525780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194560"/>
            <a:ext cx="73152" cy="1984248"/>
          </a:xfrm>
          <a:prstGeom prst="rect">
            <a:avLst/>
          </a:prstGeom>
          <a:solidFill>
            <a:srgbClr val="8A5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23317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8A5713"/>
                </a:solidFill>
                <a:latin typeface="Calibri"/>
              </a:rPr>
              <a:t>Auflagen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2706624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5713"/>
                </a:solidFill>
                <a:latin typeface="Calibri"/>
              </a:rPr>
              <a:t>7  </a:t>
            </a:r>
            <a:r>
              <a:rPr sz="1200" b="0">
                <a:solidFill>
                  <a:srgbClr val="1B1E22"/>
                </a:solidFill>
                <a:latin typeface="Calibri"/>
              </a:rPr>
              <a:t>Welche Datenschutzauflagen? Wer entscheidet die Löschfristen?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086100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5713"/>
                </a:solidFill>
                <a:latin typeface="Calibri"/>
              </a:rPr>
              <a:t>8  </a:t>
            </a:r>
            <a:r>
              <a:rPr sz="1200" b="0">
                <a:solidFill>
                  <a:srgbClr val="1B1E22"/>
                </a:solidFill>
                <a:latin typeface="Calibri"/>
              </a:rPr>
              <a:t>Muss der Betriebsrat beteiligt werden — und ab wann?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465576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5713"/>
                </a:solidFill>
                <a:latin typeface="Calibri"/>
              </a:rPr>
              <a:t>9  </a:t>
            </a:r>
            <a:r>
              <a:rPr sz="1200" b="0">
                <a:solidFill>
                  <a:srgbClr val="1B1E22"/>
                </a:solidFill>
                <a:latin typeface="Calibri"/>
              </a:rPr>
              <a:t>Was ist das IS-Setup-Gespräch — und was erwartet es bei eigenem Code?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4D78"/>
                </a:solidFill>
                <a:latin typeface="Calibri"/>
              </a:rPr>
              <a:t>WAS ICH VOM GESPRÄCH BRAUCHE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B1E22"/>
                </a:solidFill>
                <a:latin typeface="Calibri Light"/>
              </a:rPr>
              <a:t>Offene Fragen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10607040" cy="18288"/>
          </a:xfrm>
          <a:prstGeom prst="rect">
            <a:avLst/>
          </a:prstGeom>
          <a:solidFill>
            <a:srgbClr val="D7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257800" cy="2811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73152" cy="2811780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4D78"/>
                </a:solidFill>
                <a:latin typeface="Calibri"/>
              </a:rPr>
              <a:t>Technische Einbindung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86584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10  </a:t>
            </a:r>
            <a:r>
              <a:rPr sz="1200" b="0">
                <a:solidFill>
                  <a:srgbClr val="1B1E22"/>
                </a:solidFill>
                <a:latin typeface="Calibri"/>
              </a:rPr>
              <a:t>Firewall: wie beantrage ich die 2 ausgehenden Verbindungen (IdP, Relay)?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0088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11  </a:t>
            </a:r>
            <a:r>
              <a:rPr sz="1200" b="0">
                <a:solidFill>
                  <a:srgbClr val="1B1E22"/>
                </a:solidFill>
                <a:latin typeface="Calibri"/>
              </a:rPr>
              <a:t>Eigene DB: Die VM sichert TSM — gelten weitere Vorgaben?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69564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12  </a:t>
            </a:r>
            <a:r>
              <a:rPr sz="1200" b="0">
                <a:solidFill>
                  <a:srgbClr val="1B1E22"/>
                </a:solidFill>
                <a:latin typeface="Calibri"/>
              </a:rPr>
              <a:t>ADS/IdP: OIDC-Client beantragen, Testumgebung, Client liefert nur E-Mail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3068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13  </a:t>
            </a:r>
            <a:r>
              <a:rPr sz="1200" b="0">
                <a:solidFill>
                  <a:srgbClr val="1B1E22"/>
                </a:solidFill>
                <a:latin typeface="Calibri"/>
              </a:rPr>
              <a:t>Relay: Wir haben das Postfach „kundeninfo“ — wie bindet die App das ein? Dazu Durchsatz, Absender, Bounce-Postfach, Teststrecke?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79" y="1874519"/>
            <a:ext cx="5257800" cy="16047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79" y="1874519"/>
            <a:ext cx="73152" cy="1604772"/>
          </a:xfrm>
          <a:prstGeom prst="rect">
            <a:avLst/>
          </a:prstGeom>
          <a:solidFill>
            <a:srgbClr val="2D6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2011679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D6A44"/>
                </a:solidFill>
                <a:latin typeface="Calibri"/>
              </a:rPr>
              <a:t>Rückweg /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386584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6A44"/>
                </a:solidFill>
                <a:latin typeface="Calibri"/>
              </a:rPr>
              <a:t>14  </a:t>
            </a:r>
            <a:r>
              <a:rPr sz="1200" b="0">
                <a:solidFill>
                  <a:srgbClr val="1B1E22"/>
                </a:solidFill>
                <a:latin typeface="Calibri"/>
              </a:rPr>
              <a:t>Bei Abbruch: genügt Parallelbetrieb der Outlook-Listen?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766060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6A44"/>
                </a:solidFill>
                <a:latin typeface="Calibri"/>
              </a:rPr>
              <a:t>15  </a:t>
            </a:r>
            <a:r>
              <a:rPr sz="1200" b="0">
                <a:solidFill>
                  <a:srgbClr val="1B1E22"/>
                </a:solidFill>
                <a:latin typeface="Calibri"/>
              </a:rPr>
              <a:t>Im Betrieb: Meldung muss auch raus, wenn das Portal nicht läuft — wie?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79" y="3680459"/>
            <a:ext cx="525780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3680459"/>
            <a:ext cx="73152" cy="243230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38176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4D78"/>
                </a:solidFill>
                <a:latin typeface="Calibri"/>
              </a:rPr>
              <a:t>Zum Verfahren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192523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16  </a:t>
            </a:r>
            <a:r>
              <a:rPr sz="1200" b="0">
                <a:solidFill>
                  <a:srgbClr val="1B1E22"/>
                </a:solidFill>
                <a:latin typeface="Calibri"/>
              </a:rPr>
              <a:t>BlueZone für Inhouse-Entwicklung ohne Hersteller richtig — wer ist „Dienstleister“?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4796027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17  </a:t>
            </a:r>
            <a:r>
              <a:rPr sz="1200" b="0">
                <a:solidFill>
                  <a:srgbClr val="1B1E22"/>
                </a:solidFill>
                <a:latin typeface="Calibri"/>
              </a:rPr>
              <a:t>Registrierungsweg: ADV in planningIT, welches Produktsegment statt 700?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5399531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D78"/>
                </a:solidFill>
                <a:latin typeface="Calibri"/>
              </a:rPr>
              <a:t>18  </a:t>
            </a:r>
            <a:r>
              <a:rPr sz="1200" b="0">
                <a:solidFill>
                  <a:srgbClr val="1B1E22"/>
                </a:solidFill>
                <a:latin typeface="Calibri"/>
              </a:rPr>
              <a:t>Was kauft die BlueZone ein, wenn RZ-Betrieb ohnehin das Ziel ist?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86B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C2E6"/>
                </a:solidFill>
                <a:latin typeface="Calibri"/>
              </a:rPr>
              <a:t>ZUSAMMENGEFASST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202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FFFFFF"/>
                </a:solidFill>
                <a:latin typeface="Calibri Light"/>
              </a:rPr>
              <a:t>Kleine, unabhängige Anwendung —
großer Pflegevorteil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602736"/>
            <a:ext cx="146304" cy="146304"/>
          </a:xfrm>
          <a:prstGeom prst="ellipse">
            <a:avLst/>
          </a:prstGeom>
          <a:solidFill>
            <a:srgbClr val="86B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520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5E1EE"/>
                </a:solidFill>
                <a:latin typeface="Calibri"/>
              </a:rPr>
              <a:t>Ersetzt Verteilerpflege, nicht den Kanal. Keine neue Plattform.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169663"/>
            <a:ext cx="146304" cy="146304"/>
          </a:xfrm>
          <a:prstGeom prst="ellipse">
            <a:avLst/>
          </a:prstGeom>
          <a:solidFill>
            <a:srgbClr val="86B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5E1EE"/>
                </a:solidFill>
                <a:latin typeface="Calibri"/>
              </a:rPr>
              <a:t>Zwei Konzern-Verbindungen (IdP, Relay), keine Zusatz-Infrastruktur, kein Tracking.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736592"/>
            <a:ext cx="146304" cy="146304"/>
          </a:xfrm>
          <a:prstGeom prst="ellipse">
            <a:avLst/>
          </a:prstGeom>
          <a:solidFill>
            <a:srgbClr val="86B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65429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5E1EE"/>
                </a:solidFill>
                <a:latin typeface="Calibri"/>
              </a:rPr>
              <a:t>Einstufung auf zwei Wegen keine IDV. Bündelung entschieden.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303520"/>
            <a:ext cx="146304" cy="146304"/>
          </a:xfrm>
          <a:prstGeom prst="ellipse">
            <a:avLst/>
          </a:prstGeom>
          <a:solidFill>
            <a:srgbClr val="86B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221224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5E1EE"/>
                </a:solidFill>
                <a:latin typeface="Calibri"/>
              </a:rPr>
              <a:t>Entwicklung und Wartung liegen bereits in der WWI — keine Übergabe offen.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989320"/>
            <a:ext cx="5486400" cy="18288"/>
          </a:xfrm>
          <a:prstGeom prst="rect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6126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Nächster Schritt: </a:t>
            </a:r>
            <a:r>
              <a:rPr sz="1400" b="0">
                <a:solidFill>
                  <a:srgbClr val="C9D8E8"/>
                </a:solidFill>
                <a:latin typeface="Calibri"/>
              </a:rPr>
              <a:t>die 18 offenen Fragen mit Zuständigkeiten und Vorlaufzeiten hinterlegen.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